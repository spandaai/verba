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333" r:id="rId2"/>
    <p:sldId id="334" r:id="rId3"/>
    <p:sldId id="335" r:id="rId4"/>
    <p:sldId id="336" r:id="rId5"/>
    <p:sldId id="337" r:id="rId6"/>
    <p:sldId id="348" r:id="rId7"/>
    <p:sldId id="339" r:id="rId8"/>
    <p:sldId id="340" r:id="rId9"/>
    <p:sldId id="342" r:id="rId10"/>
    <p:sldId id="343" r:id="rId11"/>
    <p:sldId id="344" r:id="rId12"/>
    <p:sldId id="341" r:id="rId13"/>
    <p:sldId id="347" r:id="rId14"/>
    <p:sldId id="345" r:id="rId15"/>
    <p:sldId id="346" r:id="rId16"/>
    <p:sldId id="338" r:id="rId17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u" lastIdx="1" clrIdx="0"/>
  <p:cmAuthor id="1" name="vaishali" initials="v" lastIdx="1" clrIdx="1">
    <p:extLst>
      <p:ext uri="{19B8F6BF-5375-455C-9EA6-DF929625EA0E}">
        <p15:presenceInfo xmlns:p15="http://schemas.microsoft.com/office/powerpoint/2012/main" userId="vaishal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94660"/>
  </p:normalViewPr>
  <p:slideViewPr>
    <p:cSldViewPr>
      <p:cViewPr varScale="1">
        <p:scale>
          <a:sx n="69" d="100"/>
          <a:sy n="69" d="100"/>
        </p:scale>
        <p:origin x="150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736E2BE-9D0E-42AE-8134-698B657F8932}" type="datetimeFigureOut">
              <a:rPr lang="en-US" smtClean="0"/>
              <a:pPr/>
              <a:t>2/4/2023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E6F14DF-752C-459E-A15E-C4A63D43292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52400" y="5666601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>
                <a:solidFill>
                  <a:srgbClr val="FFFFFF"/>
                </a:solidFill>
                <a:latin typeface="Arial"/>
                <a:cs typeface="Arial"/>
              </a:rPr>
              <a:t>Work Integrated Learning Programmes Division</a:t>
            </a:r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629400" y="6096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6858000" y="1018401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>
                <a:solidFill>
                  <a:srgbClr val="FFFFFF"/>
                </a:solidFill>
                <a:latin typeface="Arial"/>
                <a:cs typeface="Arial"/>
              </a:rPr>
              <a:t>Work Integrated Learning Programmes Division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7162800" y="6596390"/>
            <a:ext cx="198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6596390"/>
            <a:ext cx="2133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7400" y="6596390"/>
            <a:ext cx="46482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Foundation of Financial Management </a:t>
            </a:r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56933" y="6596390"/>
            <a:ext cx="1015467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1"/>
          </p:nvPr>
        </p:nvSpPr>
        <p:spPr>
          <a:xfrm>
            <a:off x="304800" y="6596390"/>
            <a:ext cx="2133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4BFB6EF-6739-41B9-AC43-D419983EC8BE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7400" y="6596390"/>
            <a:ext cx="46482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Foundation of Financial Management 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56933" y="6596390"/>
            <a:ext cx="1015467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>
          <a:xfrm>
            <a:off x="304800" y="6596390"/>
            <a:ext cx="2133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49A0394-2C27-43F3-B7A8-803D4C4241EA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7400" y="6596390"/>
            <a:ext cx="46482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Foundation of Financial Management 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56933" y="6596390"/>
            <a:ext cx="1015467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6596390"/>
            <a:ext cx="2133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1578905-1633-436B-A06B-7E3F4CE200C8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7400" y="6596390"/>
            <a:ext cx="46482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Foundation of Financial Management </a:t>
            </a:r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56933" y="6596390"/>
            <a:ext cx="1015467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A24D832-7EB5-429B-9D54-666284B559BA}" type="datetime1">
              <a:rPr lang="en-US" smtClean="0"/>
              <a:t>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9800" y="6356350"/>
            <a:ext cx="464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Foundation of Financial Management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0" r:id="rId3"/>
    <p:sldLayoutId id="2147483652" r:id="rId4"/>
    <p:sldLayoutId id="2147483657" r:id="rId5"/>
    <p:sldLayoutId id="2147483658" r:id="rId6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>
                <a:latin typeface="Trebuchet MS" panose="020B0603020202020204" pitchFamily="34" charset="0"/>
              </a:rPr>
              <a:t>The Investment Setting</a:t>
            </a:r>
            <a:endParaRPr lang="en-IN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44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rebuchet MS" panose="020B0603020202020204" pitchFamily="34" charset="0"/>
              </a:rPr>
              <a:t>	On </a:t>
            </a:r>
            <a:r>
              <a:rPr lang="en-US" dirty="0">
                <a:latin typeface="Trebuchet MS" panose="020B0603020202020204" pitchFamily="34" charset="0"/>
              </a:rPr>
              <a:t>February 1, you bought 100 shares of stock in </a:t>
            </a:r>
            <a:r>
              <a:rPr lang="en-US" dirty="0" smtClean="0">
                <a:latin typeface="Trebuchet MS" panose="020B0603020202020204" pitchFamily="34" charset="0"/>
              </a:rPr>
              <a:t>the Francesca </a:t>
            </a:r>
            <a:r>
              <a:rPr lang="en-US" dirty="0">
                <a:latin typeface="Trebuchet MS" panose="020B0603020202020204" pitchFamily="34" charset="0"/>
              </a:rPr>
              <a:t>Corporation for $34 </a:t>
            </a:r>
            <a:r>
              <a:rPr lang="en-US" dirty="0" smtClean="0">
                <a:latin typeface="Trebuchet MS" panose="020B0603020202020204" pitchFamily="34" charset="0"/>
              </a:rPr>
              <a:t>a share </a:t>
            </a:r>
            <a:r>
              <a:rPr lang="en-US" dirty="0">
                <a:latin typeface="Trebuchet MS" panose="020B0603020202020204" pitchFamily="34" charset="0"/>
              </a:rPr>
              <a:t>and a year later you sold it for $39 a share. During the year, you received a </a:t>
            </a:r>
            <a:r>
              <a:rPr lang="en-US" dirty="0" smtClean="0">
                <a:latin typeface="Trebuchet MS" panose="020B0603020202020204" pitchFamily="34" charset="0"/>
              </a:rPr>
              <a:t>cash dividend </a:t>
            </a:r>
            <a:r>
              <a:rPr lang="en-US" dirty="0">
                <a:latin typeface="Trebuchet MS" panose="020B0603020202020204" pitchFamily="34" charset="0"/>
              </a:rPr>
              <a:t>of $1.50 a share. Compute your HPR and HPY on this Francesca </a:t>
            </a:r>
            <a:r>
              <a:rPr lang="en-US" dirty="0" smtClean="0">
                <a:latin typeface="Trebuchet MS" panose="020B0603020202020204" pitchFamily="34" charset="0"/>
              </a:rPr>
              <a:t>stock investment</a:t>
            </a:r>
            <a:r>
              <a:rPr lang="en-US" dirty="0">
                <a:latin typeface="Trebuchet MS" panose="020B0603020202020204" pitchFamily="34" charset="0"/>
              </a:rPr>
              <a:t>. </a:t>
            </a:r>
            <a:br>
              <a:rPr lang="en-US" dirty="0">
                <a:latin typeface="Trebuchet MS" panose="020B0603020202020204" pitchFamily="34" charset="0"/>
              </a:rPr>
            </a:b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>
                <a:latin typeface="Trebuchet MS" panose="020B0603020202020204" pitchFamily="34" charset="0"/>
              </a:rPr>
              <a:t>Exercise 01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18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rebuchet MS" panose="020B0603020202020204" pitchFamily="34" charset="0"/>
              </a:rPr>
              <a:t>    On </a:t>
            </a:r>
            <a:r>
              <a:rPr lang="en-US" dirty="0">
                <a:latin typeface="Trebuchet MS" panose="020B0603020202020204" pitchFamily="34" charset="0"/>
              </a:rPr>
              <a:t>August 15, you purchased 100 shares of stock in the Cara Cotton Company at $65 </a:t>
            </a:r>
            <a:r>
              <a:rPr lang="en-US" dirty="0" smtClean="0">
                <a:latin typeface="Trebuchet MS" panose="020B0603020202020204" pitchFamily="34" charset="0"/>
              </a:rPr>
              <a:t>a share </a:t>
            </a:r>
            <a:r>
              <a:rPr lang="en-US" dirty="0">
                <a:latin typeface="Trebuchet MS" panose="020B0603020202020204" pitchFamily="34" charset="0"/>
              </a:rPr>
              <a:t>and a year later you sold it for $61 a share. During the year, you received </a:t>
            </a:r>
            <a:r>
              <a:rPr lang="en-US" dirty="0" smtClean="0">
                <a:latin typeface="Trebuchet MS" panose="020B0603020202020204" pitchFamily="34" charset="0"/>
              </a:rPr>
              <a:t>dividends of </a:t>
            </a:r>
            <a:r>
              <a:rPr lang="en-US" dirty="0">
                <a:latin typeface="Trebuchet MS" panose="020B0603020202020204" pitchFamily="34" charset="0"/>
              </a:rPr>
              <a:t>$3 a share. Compute your HPR and HPY on your investment in Cara Cotton. </a:t>
            </a:r>
            <a:br>
              <a:rPr lang="en-US" dirty="0">
                <a:latin typeface="Trebuchet MS" panose="020B0603020202020204" pitchFamily="34" charset="0"/>
              </a:rPr>
            </a:b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>
                <a:latin typeface="Trebuchet MS" panose="020B0603020202020204" pitchFamily="34" charset="0"/>
              </a:rPr>
              <a:t>Exercise 02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5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rebuchet MS" panose="020B0603020202020204" pitchFamily="34" charset="0"/>
              </a:rPr>
              <a:t>    At </a:t>
            </a:r>
            <a:r>
              <a:rPr lang="en-US" dirty="0">
                <a:latin typeface="Trebuchet MS" panose="020B0603020202020204" pitchFamily="34" charset="0"/>
              </a:rPr>
              <a:t>the beginning of last year, you invested $4,000 in 80 shares of the Chang </a:t>
            </a:r>
            <a:r>
              <a:rPr lang="en-US" dirty="0" smtClean="0">
                <a:latin typeface="Trebuchet MS" panose="020B0603020202020204" pitchFamily="34" charset="0"/>
              </a:rPr>
              <a:t>Corporation. During </a:t>
            </a:r>
            <a:r>
              <a:rPr lang="en-US" dirty="0">
                <a:latin typeface="Trebuchet MS" panose="020B0603020202020204" pitchFamily="34" charset="0"/>
              </a:rPr>
              <a:t>the </a:t>
            </a:r>
            <a:r>
              <a:rPr lang="en-US" dirty="0" smtClean="0">
                <a:latin typeface="Trebuchet MS" panose="020B0603020202020204" pitchFamily="34" charset="0"/>
              </a:rPr>
              <a:t>year, Chang </a:t>
            </a:r>
            <a:r>
              <a:rPr lang="en-US" dirty="0">
                <a:latin typeface="Trebuchet MS" panose="020B0603020202020204" pitchFamily="34" charset="0"/>
              </a:rPr>
              <a:t>paid dividends of $5 per share. At the end of the year, you </a:t>
            </a:r>
            <a:r>
              <a:rPr lang="en-US" dirty="0" smtClean="0">
                <a:latin typeface="Trebuchet MS" panose="020B0603020202020204" pitchFamily="34" charset="0"/>
              </a:rPr>
              <a:t>sold the </a:t>
            </a:r>
            <a:r>
              <a:rPr lang="en-US" dirty="0">
                <a:latin typeface="Trebuchet MS" panose="020B0603020202020204" pitchFamily="34" charset="0"/>
              </a:rPr>
              <a:t>80 shares for $59 a share. Compute your total HPY on these shares and indicate </a:t>
            </a:r>
            <a:r>
              <a:rPr lang="en-US" dirty="0" smtClean="0">
                <a:latin typeface="Trebuchet MS" panose="020B0603020202020204" pitchFamily="34" charset="0"/>
              </a:rPr>
              <a:t>how much </a:t>
            </a:r>
            <a:r>
              <a:rPr lang="en-US" dirty="0">
                <a:latin typeface="Trebuchet MS" panose="020B0603020202020204" pitchFamily="34" charset="0"/>
              </a:rPr>
              <a:t>was due to the price change and how much was due to </a:t>
            </a:r>
            <a:r>
              <a:rPr lang="en-US" dirty="0" smtClean="0">
                <a:latin typeface="Trebuchet MS" panose="020B0603020202020204" pitchFamily="34" charset="0"/>
              </a:rPr>
              <a:t>the dividend income</a:t>
            </a:r>
            <a:r>
              <a:rPr lang="en-US" dirty="0">
                <a:latin typeface="Trebuchet MS" panose="020B0603020202020204" pitchFamily="34" charset="0"/>
              </a:rPr>
              <a:t>. </a:t>
            </a:r>
            <a:br>
              <a:rPr lang="en-US" dirty="0">
                <a:latin typeface="Trebuchet MS" panose="020B0603020202020204" pitchFamily="34" charset="0"/>
              </a:rPr>
            </a:b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>
                <a:latin typeface="Trebuchet MS" panose="020B0603020202020204" pitchFamily="34" charset="0"/>
              </a:rPr>
              <a:t>Exercise 03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2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rebuchet MS" panose="020B0603020202020204" pitchFamily="34" charset="0"/>
              </a:rPr>
              <a:t>   The </a:t>
            </a:r>
            <a:r>
              <a:rPr lang="en-US" dirty="0">
                <a:latin typeface="Trebuchet MS" panose="020B0603020202020204" pitchFamily="34" charset="0"/>
              </a:rPr>
              <a:t>rates of return computed in </a:t>
            </a:r>
            <a:r>
              <a:rPr lang="en-US" dirty="0" smtClean="0">
                <a:latin typeface="Trebuchet MS" panose="020B0603020202020204" pitchFamily="34" charset="0"/>
              </a:rPr>
              <a:t>Exercises (problems) </a:t>
            </a:r>
            <a:r>
              <a:rPr lang="en-US" dirty="0">
                <a:latin typeface="Trebuchet MS" panose="020B0603020202020204" pitchFamily="34" charset="0"/>
              </a:rPr>
              <a:t>1, 2, and 3 are nominal rates of return. Assuming that the rate of inflation during the year was 4 percent, compute the real </a:t>
            </a:r>
            <a:r>
              <a:rPr lang="en-US" dirty="0" smtClean="0">
                <a:latin typeface="Trebuchet MS" panose="020B0603020202020204" pitchFamily="34" charset="0"/>
              </a:rPr>
              <a:t>rates of </a:t>
            </a:r>
            <a:r>
              <a:rPr lang="en-US" dirty="0">
                <a:latin typeface="Trebuchet MS" panose="020B0603020202020204" pitchFamily="34" charset="0"/>
              </a:rPr>
              <a:t>return on these investments. Compute the real rates of return if the rate of </a:t>
            </a:r>
            <a:r>
              <a:rPr lang="en-US" dirty="0" smtClean="0">
                <a:latin typeface="Trebuchet MS" panose="020B0603020202020204" pitchFamily="34" charset="0"/>
              </a:rPr>
              <a:t>inflation was </a:t>
            </a:r>
            <a:r>
              <a:rPr lang="en-US" dirty="0">
                <a:latin typeface="Trebuchet MS" panose="020B0603020202020204" pitchFamily="34" charset="0"/>
              </a:rPr>
              <a:t>8 percent 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>
                <a:latin typeface="Trebuchet MS" panose="020B0603020202020204" pitchFamily="34" charset="0"/>
              </a:rPr>
              <a:t>Exercise 04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2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493837"/>
                <a:ext cx="8610600" cy="4525963"/>
              </a:xfrm>
            </p:spPr>
            <p:txBody>
              <a:bodyPr/>
              <a:lstStyle/>
              <a:p>
                <a:r>
                  <a:rPr lang="en-US" dirty="0" smtClean="0">
                    <a:latin typeface="Trebuchet MS" panose="020B0603020202020204" pitchFamily="34" charset="0"/>
                  </a:rPr>
                  <a:t>Real Rate of Return  = [ </a:t>
                </a:r>
                <a:r>
                  <a:rPr lang="en-US" sz="1800" dirty="0" smtClean="0">
                    <a:latin typeface="Trebuchet MS" panose="020B0603020202020204" pitchFamily="34" charset="0"/>
                  </a:rPr>
                  <a:t>Holding Period Return / (1+Rate of Inflation) ]-1 </a:t>
                </a:r>
              </a:p>
              <a:p>
                <a:endParaRPr lang="en-US" sz="1800" dirty="0">
                  <a:latin typeface="Trebuchet MS" panose="020B0603020202020204" pitchFamily="34" charset="0"/>
                </a:endParaRPr>
              </a:p>
              <a:p>
                <a:endParaRPr lang="en-US" sz="1800" dirty="0" smtClean="0">
                  <a:latin typeface="Trebuchet MS" panose="020B0603020202020204" pitchFamily="34" charset="0"/>
                </a:endParaRPr>
              </a:p>
              <a:p>
                <a:r>
                  <a:rPr lang="en-IN" sz="2800" dirty="0" smtClean="0">
                    <a:latin typeface="Trebuchet MS" panose="020B0603020202020204" pitchFamily="34" charset="0"/>
                  </a:rPr>
                  <a:t>	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𝐻𝑜𝑙𝑑𝑖𝑛𝑔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𝑃𝑒𝑟𝑖𝑜𝑑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𝑅𝑒𝑡𝑢𝑟𝑛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𝑅𝑎𝑡𝑒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𝐼𝑛𝑓𝑙𝑎𝑡𝑖𝑜𝑛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−1</m:t>
                    </m:r>
                  </m:oMath>
                </a14:m>
                <a:endParaRPr lang="en-IN" sz="2800" dirty="0">
                  <a:latin typeface="Trebuchet MS" panose="020B0603020202020204" pitchFamily="34" charset="0"/>
                </a:endParaRPr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493837"/>
                <a:ext cx="8610600" cy="4525963"/>
              </a:xfrm>
              <a:blipFill>
                <a:blip r:embed="rId2"/>
                <a:stretch>
                  <a:fillRect l="-1062" t="-10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>
                <a:latin typeface="Trebuchet MS" panose="020B0603020202020204" pitchFamily="34" charset="0"/>
              </a:rPr>
              <a:t>Solution 4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rebuchet MS" panose="020B0603020202020204" pitchFamily="34" charset="0"/>
              </a:rPr>
              <a:t>	During </a:t>
            </a:r>
            <a:r>
              <a:rPr lang="en-US" dirty="0">
                <a:latin typeface="Trebuchet MS" panose="020B0603020202020204" pitchFamily="34" charset="0"/>
              </a:rPr>
              <a:t>the past five years, you owned two stocks that had the following annual rates </a:t>
            </a:r>
            <a:r>
              <a:rPr lang="en-US" dirty="0" smtClean="0">
                <a:latin typeface="Trebuchet MS" panose="020B0603020202020204" pitchFamily="34" charset="0"/>
              </a:rPr>
              <a:t>of return</a:t>
            </a:r>
            <a:r>
              <a:rPr lang="en-US" dirty="0">
                <a:latin typeface="Trebuchet MS" panose="020B0603020202020204" pitchFamily="34" charset="0"/>
              </a:rPr>
              <a:t>: </a:t>
            </a:r>
            <a:endParaRPr lang="en-US" dirty="0" smtClean="0">
              <a:latin typeface="Trebuchet MS" panose="020B0603020202020204" pitchFamily="34" charset="0"/>
            </a:endParaRPr>
          </a:p>
          <a:p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>
                <a:latin typeface="Trebuchet MS" panose="020B0603020202020204" pitchFamily="34" charset="0"/>
              </a:rPr>
              <a:t>Exercise 05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03195"/>
              </p:ext>
            </p:extLst>
          </p:nvPr>
        </p:nvGraphicFramePr>
        <p:xfrm>
          <a:off x="2105892" y="2743200"/>
          <a:ext cx="4623332" cy="2886434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49260531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1705111"/>
                    </a:ext>
                  </a:extLst>
                </a:gridCol>
                <a:gridCol w="1651532">
                  <a:extLst>
                    <a:ext uri="{9D8B030D-6E8A-4147-A177-3AD203B41FA5}">
                      <a16:colId xmlns:a16="http://schemas.microsoft.com/office/drawing/2014/main" val="86497150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dirty="0">
                          <a:effectLst/>
                          <a:latin typeface="Trebuchet MS" panose="020B0603020202020204" pitchFamily="34" charset="0"/>
                        </a:rPr>
                        <a:t>Year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dirty="0">
                          <a:effectLst/>
                          <a:latin typeface="Trebuchet MS" panose="020B0603020202020204" pitchFamily="34" charset="0"/>
                        </a:rPr>
                        <a:t>Stock T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dirty="0">
                          <a:effectLst/>
                          <a:latin typeface="Trebuchet MS" panose="020B0603020202020204" pitchFamily="34" charset="0"/>
                        </a:rPr>
                        <a:t>Stock B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839498"/>
                  </a:ext>
                </a:extLst>
              </a:tr>
              <a:tr h="4663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0.19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0.08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152985"/>
                  </a:ext>
                </a:extLst>
              </a:tr>
              <a:tr h="4663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0.08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0.03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275148"/>
                  </a:ext>
                </a:extLst>
              </a:tr>
              <a:tr h="4663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-0.12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-0.09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0560183"/>
                  </a:ext>
                </a:extLst>
              </a:tr>
              <a:tr h="4663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-0.03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0.02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896954"/>
                  </a:ext>
                </a:extLst>
              </a:tr>
              <a:tr h="48756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0.15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0.04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532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678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dirty="0" smtClean="0">
                <a:latin typeface="Trebuchet MS" panose="020B0603020202020204" pitchFamily="34" charset="0"/>
              </a:rPr>
              <a:t>	Compute </a:t>
            </a:r>
            <a:r>
              <a:rPr lang="en-US" dirty="0">
                <a:latin typeface="Trebuchet MS" panose="020B0603020202020204" pitchFamily="34" charset="0"/>
              </a:rPr>
              <a:t>the arithmetic mean annual rate of return </a:t>
            </a:r>
            <a:r>
              <a:rPr lang="en-US" dirty="0" smtClean="0">
                <a:latin typeface="Trebuchet MS" panose="020B0603020202020204" pitchFamily="34" charset="0"/>
              </a:rPr>
              <a:t>	for </a:t>
            </a:r>
            <a:r>
              <a:rPr lang="en-US" dirty="0">
                <a:latin typeface="Trebuchet MS" panose="020B0603020202020204" pitchFamily="34" charset="0"/>
              </a:rPr>
              <a:t>each stock. Which stock </a:t>
            </a:r>
            <a:r>
              <a:rPr lang="en-US" dirty="0" smtClean="0">
                <a:latin typeface="Trebuchet MS" panose="020B0603020202020204" pitchFamily="34" charset="0"/>
              </a:rPr>
              <a:t>is most </a:t>
            </a:r>
            <a:r>
              <a:rPr lang="en-US" dirty="0">
                <a:latin typeface="Trebuchet MS" panose="020B0603020202020204" pitchFamily="34" charset="0"/>
              </a:rPr>
              <a:t>desirable by </a:t>
            </a:r>
            <a:r>
              <a:rPr lang="en-US" dirty="0" smtClean="0">
                <a:latin typeface="Trebuchet MS" panose="020B0603020202020204" pitchFamily="34" charset="0"/>
              </a:rPr>
              <a:t>	this </a:t>
            </a:r>
            <a:r>
              <a:rPr lang="en-US" dirty="0">
                <a:latin typeface="Trebuchet MS" panose="020B0603020202020204" pitchFamily="34" charset="0"/>
              </a:rPr>
              <a:t>measure? 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Exercise </a:t>
            </a:r>
            <a:r>
              <a:rPr lang="en-US" dirty="0" smtClean="0">
                <a:latin typeface="Trebuchet MS" panose="020B0603020202020204" pitchFamily="34" charset="0"/>
              </a:rPr>
              <a:t>05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lphaUcPeriod" startAt="2"/>
            </a:pPr>
            <a:r>
              <a:rPr lang="en-US" dirty="0" smtClean="0">
                <a:latin typeface="Trebuchet MS" panose="020B0603020202020204" pitchFamily="34" charset="0"/>
              </a:rPr>
              <a:t>Compute </a:t>
            </a:r>
            <a:r>
              <a:rPr lang="en-US" dirty="0">
                <a:latin typeface="Trebuchet MS" panose="020B0603020202020204" pitchFamily="34" charset="0"/>
              </a:rPr>
              <a:t>the standard deviation of the annual rate of return for each stock. </a:t>
            </a:r>
            <a:r>
              <a:rPr lang="en-US" dirty="0" smtClean="0">
                <a:latin typeface="Trebuchet MS" panose="020B0603020202020204" pitchFamily="34" charset="0"/>
              </a:rPr>
              <a:t>(Use Chapter 1 Appendix if necessary.) By </a:t>
            </a:r>
            <a:r>
              <a:rPr lang="en-US" dirty="0">
                <a:latin typeface="Trebuchet MS" panose="020B0603020202020204" pitchFamily="34" charset="0"/>
              </a:rPr>
              <a:t>this measure, which is the preferable stock? 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Exercise </a:t>
            </a:r>
            <a:r>
              <a:rPr lang="en-US" dirty="0" smtClean="0">
                <a:latin typeface="Trebuchet MS" panose="020B0603020202020204" pitchFamily="34" charset="0"/>
              </a:rPr>
              <a:t>05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8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lphaUcPeriod" startAt="3"/>
            </a:pPr>
            <a:r>
              <a:rPr lang="en-US" dirty="0" smtClean="0">
                <a:latin typeface="Trebuchet MS" panose="020B0603020202020204" pitchFamily="34" charset="0"/>
              </a:rPr>
              <a:t>Compute </a:t>
            </a:r>
            <a:r>
              <a:rPr lang="en-US" dirty="0">
                <a:latin typeface="Trebuchet MS" panose="020B0603020202020204" pitchFamily="34" charset="0"/>
              </a:rPr>
              <a:t>the coefficient of variation for each stock. (Use the Chapter 1 Appendix </a:t>
            </a:r>
            <a:r>
              <a:rPr lang="en-US" dirty="0" smtClean="0">
                <a:latin typeface="Trebuchet MS" panose="020B0603020202020204" pitchFamily="34" charset="0"/>
              </a:rPr>
              <a:t>if necessary</a:t>
            </a:r>
            <a:r>
              <a:rPr lang="en-US" dirty="0">
                <a:latin typeface="Trebuchet MS" panose="020B0603020202020204" pitchFamily="34" charset="0"/>
              </a:rPr>
              <a:t>.) By this relative measure of risk, which stock is preferable? </a:t>
            </a:r>
            <a:br>
              <a:rPr lang="en-US" dirty="0">
                <a:latin typeface="Trebuchet MS" panose="020B0603020202020204" pitchFamily="34" charset="0"/>
              </a:rPr>
            </a:b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Exercise </a:t>
            </a:r>
            <a:r>
              <a:rPr lang="en-US" dirty="0" smtClean="0">
                <a:latin typeface="Trebuchet MS" panose="020B0603020202020204" pitchFamily="34" charset="0"/>
              </a:rPr>
              <a:t>05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09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lphaUcPeriod" startAt="4"/>
            </a:pPr>
            <a:r>
              <a:rPr lang="en-US" dirty="0" smtClean="0">
                <a:latin typeface="Trebuchet MS" panose="020B0603020202020204" pitchFamily="34" charset="0"/>
              </a:rPr>
              <a:t>Compute </a:t>
            </a:r>
            <a:r>
              <a:rPr lang="en-US" dirty="0">
                <a:latin typeface="Trebuchet MS" panose="020B0603020202020204" pitchFamily="34" charset="0"/>
              </a:rPr>
              <a:t>the geometric mean rate of return for </a:t>
            </a:r>
            <a:r>
              <a:rPr lang="en-US" dirty="0" smtClean="0">
                <a:latin typeface="Trebuchet MS" panose="020B0603020202020204" pitchFamily="34" charset="0"/>
              </a:rPr>
              <a:t>	each </a:t>
            </a:r>
            <a:r>
              <a:rPr lang="en-US" dirty="0">
                <a:latin typeface="Trebuchet MS" panose="020B0603020202020204" pitchFamily="34" charset="0"/>
              </a:rPr>
              <a:t>stock. Discuss the </a:t>
            </a:r>
            <a:r>
              <a:rPr lang="en-US" dirty="0" smtClean="0">
                <a:latin typeface="Trebuchet MS" panose="020B0603020202020204" pitchFamily="34" charset="0"/>
              </a:rPr>
              <a:t>difference between </a:t>
            </a:r>
            <a:r>
              <a:rPr lang="en-US" dirty="0">
                <a:latin typeface="Trebuchet MS" panose="020B0603020202020204" pitchFamily="34" charset="0"/>
              </a:rPr>
              <a:t>the arithmetic mean return and the geometric mean return for each </a:t>
            </a:r>
            <a:r>
              <a:rPr lang="en-US" dirty="0" smtClean="0">
                <a:latin typeface="Trebuchet MS" panose="020B0603020202020204" pitchFamily="34" charset="0"/>
              </a:rPr>
              <a:t>stock. Discuss </a:t>
            </a:r>
            <a:r>
              <a:rPr lang="en-US" dirty="0">
                <a:latin typeface="Trebuchet MS" panose="020B0603020202020204" pitchFamily="34" charset="0"/>
              </a:rPr>
              <a:t>the differences in the mean returns relative to the standard deviation of </a:t>
            </a:r>
            <a:r>
              <a:rPr lang="en-US" dirty="0" smtClean="0">
                <a:latin typeface="Trebuchet MS" panose="020B0603020202020204" pitchFamily="34" charset="0"/>
              </a:rPr>
              <a:t>the return </a:t>
            </a:r>
            <a:r>
              <a:rPr lang="en-US" dirty="0">
                <a:latin typeface="Trebuchet MS" panose="020B0603020202020204" pitchFamily="34" charset="0"/>
              </a:rPr>
              <a:t>for each </a:t>
            </a:r>
            <a:r>
              <a:rPr lang="en-US" dirty="0" smtClean="0">
                <a:latin typeface="Trebuchet MS" panose="020B0603020202020204" pitchFamily="34" charset="0"/>
              </a:rPr>
              <a:t>stock.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Exercise </a:t>
            </a:r>
            <a:r>
              <a:rPr lang="en-US" dirty="0" smtClean="0">
                <a:latin typeface="Trebuchet MS" panose="020B0603020202020204" pitchFamily="34" charset="0"/>
              </a:rPr>
              <a:t>05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3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" y="1295400"/>
            <a:ext cx="8839200" cy="49530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rebuchet MS" panose="020B0603020202020204" pitchFamily="34" charset="0"/>
              </a:rPr>
              <a:t>   </a:t>
            </a:r>
            <a:r>
              <a:rPr lang="en-US" sz="2200" dirty="0" smtClean="0">
                <a:latin typeface="Trebuchet MS" panose="020B0603020202020204" pitchFamily="34" charset="0"/>
              </a:rPr>
              <a:t>You </a:t>
            </a:r>
            <a:r>
              <a:rPr lang="en-US" sz="2200" dirty="0">
                <a:latin typeface="Trebuchet MS" panose="020B0603020202020204" pitchFamily="34" charset="0"/>
              </a:rPr>
              <a:t>are considering acquiring shares of common stock in the Madison Beer </a:t>
            </a:r>
            <a:r>
              <a:rPr lang="en-US" sz="2200" dirty="0" smtClean="0">
                <a:latin typeface="Trebuchet MS" panose="020B0603020202020204" pitchFamily="34" charset="0"/>
              </a:rPr>
              <a:t>Corporation. Your </a:t>
            </a:r>
            <a:r>
              <a:rPr lang="en-US" sz="2200" dirty="0">
                <a:latin typeface="Trebuchet MS" panose="020B0603020202020204" pitchFamily="34" charset="0"/>
              </a:rPr>
              <a:t>rate of return expectations are as follows: </a:t>
            </a:r>
            <a:r>
              <a:rPr lang="en-US" sz="2200" dirty="0" smtClean="0">
                <a:latin typeface="Trebuchet MS" panose="020B0603020202020204" pitchFamily="34" charset="0"/>
              </a:rPr>
              <a:t> </a:t>
            </a:r>
          </a:p>
          <a:p>
            <a:endParaRPr lang="en-US" sz="2200" dirty="0">
              <a:latin typeface="Trebuchet MS" panose="020B0603020202020204" pitchFamily="34" charset="0"/>
            </a:endParaRPr>
          </a:p>
          <a:p>
            <a:endParaRPr lang="en-US" sz="2200" dirty="0" smtClean="0">
              <a:latin typeface="Trebuchet MS" panose="020B0603020202020204" pitchFamily="34" charset="0"/>
            </a:endParaRPr>
          </a:p>
          <a:p>
            <a:endParaRPr lang="en-US" sz="2200" dirty="0">
              <a:latin typeface="Trebuchet MS" panose="020B0603020202020204" pitchFamily="34" charset="0"/>
            </a:endParaRPr>
          </a:p>
          <a:p>
            <a:r>
              <a:rPr lang="en-US" sz="2200" dirty="0" smtClean="0">
                <a:latin typeface="Trebuchet MS" panose="020B0603020202020204" pitchFamily="34" charset="0"/>
              </a:rPr>
              <a:t>	</a:t>
            </a:r>
          </a:p>
          <a:p>
            <a:endParaRPr lang="en-US" sz="2200" dirty="0">
              <a:latin typeface="Trebuchet MS" panose="020B0603020202020204" pitchFamily="34" charset="0"/>
            </a:endParaRPr>
          </a:p>
          <a:p>
            <a:r>
              <a:rPr lang="en-US" sz="2200" dirty="0" smtClean="0">
                <a:latin typeface="Trebuchet MS" panose="020B0603020202020204" pitchFamily="34" charset="0"/>
              </a:rPr>
              <a:t>	</a:t>
            </a:r>
          </a:p>
          <a:p>
            <a:r>
              <a:rPr lang="en-US" sz="2200" dirty="0">
                <a:latin typeface="Trebuchet MS" panose="020B0603020202020204" pitchFamily="34" charset="0"/>
              </a:rPr>
              <a:t>	</a:t>
            </a:r>
            <a:r>
              <a:rPr lang="en-US" sz="2200" dirty="0" smtClean="0">
                <a:latin typeface="Trebuchet MS" panose="020B0603020202020204" pitchFamily="34" charset="0"/>
              </a:rPr>
              <a:t>Compute </a:t>
            </a:r>
            <a:r>
              <a:rPr lang="en-US" sz="2200" dirty="0">
                <a:latin typeface="Trebuchet MS" panose="020B0603020202020204" pitchFamily="34" charset="0"/>
              </a:rPr>
              <a:t>the expected return [E(</a:t>
            </a:r>
            <a:r>
              <a:rPr lang="en-US" sz="2200" dirty="0" err="1">
                <a:latin typeface="Trebuchet MS" panose="020B0603020202020204" pitchFamily="34" charset="0"/>
              </a:rPr>
              <a:t>Ri</a:t>
            </a:r>
            <a:r>
              <a:rPr lang="en-US" sz="2200" dirty="0">
                <a:latin typeface="Trebuchet MS" panose="020B0603020202020204" pitchFamily="34" charset="0"/>
              </a:rPr>
              <a:t>)] on your investment in Madison Beer </a:t>
            </a:r>
            <a:br>
              <a:rPr lang="en-US" sz="2200" dirty="0">
                <a:latin typeface="Trebuchet MS" panose="020B0603020202020204" pitchFamily="34" charset="0"/>
              </a:rPr>
            </a:br>
            <a:endParaRPr lang="en-IN" sz="2200" dirty="0">
              <a:latin typeface="Trebuchet MS" panose="020B06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>
                <a:latin typeface="Trebuchet MS" panose="020B0603020202020204" pitchFamily="34" charset="0"/>
              </a:rPr>
              <a:t>Exercise 06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264564"/>
              </p:ext>
            </p:extLst>
          </p:nvPr>
        </p:nvGraphicFramePr>
        <p:xfrm>
          <a:off x="2438400" y="2431473"/>
          <a:ext cx="4572000" cy="2051685"/>
        </p:xfrm>
        <a:graphic>
          <a:graphicData uri="http://schemas.openxmlformats.org/drawingml/2006/table">
            <a:tbl>
              <a:tblPr firstRow="1">
                <a:tableStyleId>{17292A2E-F333-43FB-9621-5CBBE7FDCDCB}</a:tableStyleId>
              </a:tblPr>
              <a:tblGrid>
                <a:gridCol w="2577630">
                  <a:extLst>
                    <a:ext uri="{9D8B030D-6E8A-4147-A177-3AD203B41FA5}">
                      <a16:colId xmlns:a16="http://schemas.microsoft.com/office/drawing/2014/main" val="3888350193"/>
                    </a:ext>
                  </a:extLst>
                </a:gridCol>
                <a:gridCol w="1994370">
                  <a:extLst>
                    <a:ext uri="{9D8B030D-6E8A-4147-A177-3AD203B41FA5}">
                      <a16:colId xmlns:a16="http://schemas.microsoft.com/office/drawing/2014/main" val="30177086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Trebuchet MS" panose="020B0603020202020204" pitchFamily="34" charset="0"/>
                        </a:rPr>
                        <a:t>Possible Rate of Return 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Trebuchet MS" panose="020B0603020202020204" pitchFamily="34" charset="0"/>
                        </a:rPr>
                        <a:t>Probability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1752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Trebuchet MS" panose="020B0603020202020204" pitchFamily="34" charset="0"/>
                        </a:rPr>
                        <a:t>-0.10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  <a:latin typeface="Trebuchet MS" panose="020B0603020202020204" pitchFamily="34" charset="0"/>
                        </a:rPr>
                        <a:t>0.30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73227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Trebuchet MS" panose="020B0603020202020204" pitchFamily="34" charset="0"/>
                        </a:rPr>
                        <a:t>0.00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Trebuchet MS" panose="020B0603020202020204" pitchFamily="34" charset="0"/>
                        </a:rPr>
                        <a:t>0.10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64714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Trebuchet MS" panose="020B0603020202020204" pitchFamily="34" charset="0"/>
                        </a:rPr>
                        <a:t>0.10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  <a:latin typeface="Trebuchet MS" panose="020B0603020202020204" pitchFamily="34" charset="0"/>
                        </a:rPr>
                        <a:t>0.30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99930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Trebuchet MS" panose="020B0603020202020204" pitchFamily="34" charset="0"/>
                        </a:rPr>
                        <a:t>0.25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Trebuchet MS" panose="020B0603020202020204" pitchFamily="34" charset="0"/>
                        </a:rPr>
                        <a:t>0.30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7205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132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rebuchet MS" panose="020B0603020202020204" pitchFamily="34" charset="0"/>
              </a:rPr>
              <a:t>Expected Return = ∑ (Probability* Return)</a:t>
            </a:r>
          </a:p>
          <a:p>
            <a:endParaRPr lang="en-US" dirty="0">
              <a:latin typeface="Trebuchet MS" panose="020B0603020202020204" pitchFamily="34" charset="0"/>
            </a:endParaRPr>
          </a:p>
          <a:p>
            <a:r>
              <a:rPr lang="en-US" dirty="0" smtClean="0">
                <a:latin typeface="Trebuchet MS" panose="020B0603020202020204" pitchFamily="34" charset="0"/>
              </a:rPr>
              <a:t>E (R) of MBC  =     (0.30)*(-0.10) + (0.10)*(0.00) + </a:t>
            </a:r>
          </a:p>
          <a:p>
            <a:r>
              <a:rPr lang="en-US" dirty="0">
                <a:latin typeface="Trebuchet MS" panose="020B0603020202020204" pitchFamily="34" charset="0"/>
              </a:rPr>
              <a:t>	</a:t>
            </a:r>
            <a:r>
              <a:rPr lang="en-US" dirty="0" smtClean="0">
                <a:latin typeface="Trebuchet MS" panose="020B0603020202020204" pitchFamily="34" charset="0"/>
              </a:rPr>
              <a:t>	       	</a:t>
            </a:r>
            <a:r>
              <a:rPr lang="en-US" dirty="0">
                <a:latin typeface="Trebuchet MS" panose="020B0603020202020204" pitchFamily="34" charset="0"/>
              </a:rPr>
              <a:t> </a:t>
            </a:r>
            <a:r>
              <a:rPr lang="en-US" dirty="0" smtClean="0">
                <a:latin typeface="Trebuchet MS" panose="020B0603020202020204" pitchFamily="34" charset="0"/>
              </a:rPr>
              <a:t>     (0.30)*(0.10)  + (0.30)* (0.25)</a:t>
            </a:r>
          </a:p>
          <a:p>
            <a:endParaRPr lang="en-US" dirty="0">
              <a:latin typeface="Trebuchet MS" panose="020B0603020202020204" pitchFamily="34" charset="0"/>
            </a:endParaRPr>
          </a:p>
          <a:p>
            <a:r>
              <a:rPr lang="en-US" dirty="0" smtClean="0">
                <a:latin typeface="Trebuchet MS" panose="020B0603020202020204" pitchFamily="34" charset="0"/>
              </a:rPr>
              <a:t>E (R) of MBC   =   0.075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>
                <a:latin typeface="Trebuchet MS" panose="020B0603020202020204" pitchFamily="34" charset="0"/>
              </a:rPr>
              <a:t>Solution 06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08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850" y="1295400"/>
            <a:ext cx="8921750" cy="51816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rebuchet MS" panose="020B0603020202020204" pitchFamily="34" charset="0"/>
              </a:rPr>
              <a:t>    </a:t>
            </a:r>
            <a:r>
              <a:rPr lang="en-US" sz="2200" dirty="0" smtClean="0">
                <a:latin typeface="Trebuchet MS" panose="020B0603020202020204" pitchFamily="34" charset="0"/>
              </a:rPr>
              <a:t>A </a:t>
            </a:r>
            <a:r>
              <a:rPr lang="en-US" sz="2200" dirty="0">
                <a:latin typeface="Trebuchet MS" panose="020B0603020202020204" pitchFamily="34" charset="0"/>
              </a:rPr>
              <a:t>stockbroker calls you and suggests that you invest in the Lauren Computer </a:t>
            </a:r>
            <a:r>
              <a:rPr lang="en-US" sz="2200" dirty="0" smtClean="0">
                <a:latin typeface="Trebuchet MS" panose="020B0603020202020204" pitchFamily="34" charset="0"/>
              </a:rPr>
              <a:t>Company. After </a:t>
            </a:r>
            <a:r>
              <a:rPr lang="en-US" sz="2200" dirty="0">
                <a:latin typeface="Trebuchet MS" panose="020B0603020202020204" pitchFamily="34" charset="0"/>
              </a:rPr>
              <a:t>analyzing the firm’s annual report and other material, you believe that the distribution of expected rates of return is as follows: </a:t>
            </a:r>
            <a:endParaRPr lang="en-US" sz="2200" dirty="0" smtClean="0">
              <a:latin typeface="Trebuchet MS" panose="020B0603020202020204" pitchFamily="34" charset="0"/>
            </a:endParaRPr>
          </a:p>
          <a:p>
            <a:endParaRPr lang="en-US" sz="2200" dirty="0">
              <a:latin typeface="Trebuchet MS" panose="020B0603020202020204" pitchFamily="34" charset="0"/>
            </a:endParaRPr>
          </a:p>
          <a:p>
            <a:endParaRPr lang="en-US" sz="2200" dirty="0" smtClean="0">
              <a:latin typeface="Trebuchet MS" panose="020B0603020202020204" pitchFamily="34" charset="0"/>
            </a:endParaRPr>
          </a:p>
          <a:p>
            <a:endParaRPr lang="en-US" sz="2200" dirty="0">
              <a:latin typeface="Trebuchet MS" panose="020B0603020202020204" pitchFamily="34" charset="0"/>
            </a:endParaRPr>
          </a:p>
          <a:p>
            <a:endParaRPr lang="en-US" sz="2200" dirty="0" smtClean="0">
              <a:latin typeface="Trebuchet MS" panose="020B0603020202020204" pitchFamily="34" charset="0"/>
            </a:endParaRPr>
          </a:p>
          <a:p>
            <a:endParaRPr lang="en-US" sz="2200" dirty="0">
              <a:latin typeface="Trebuchet MS" panose="020B0603020202020204" pitchFamily="34" charset="0"/>
            </a:endParaRPr>
          </a:p>
          <a:p>
            <a:r>
              <a:rPr lang="en-US" sz="2200" dirty="0">
                <a:latin typeface="Trebuchet MS" panose="020B0603020202020204" pitchFamily="34" charset="0"/>
              </a:rPr>
              <a:t/>
            </a:r>
            <a:br>
              <a:rPr lang="en-US" sz="2200" dirty="0">
                <a:latin typeface="Trebuchet MS" panose="020B0603020202020204" pitchFamily="34" charset="0"/>
              </a:rPr>
            </a:br>
            <a:endParaRPr lang="en-US" sz="2200" dirty="0" smtClean="0">
              <a:latin typeface="Trebuchet MS" panose="020B0603020202020204" pitchFamily="34" charset="0"/>
            </a:endParaRPr>
          </a:p>
          <a:p>
            <a:r>
              <a:rPr lang="en-US" sz="2200" dirty="0" smtClean="0">
                <a:latin typeface="Trebuchet MS" panose="020B0603020202020204" pitchFamily="34" charset="0"/>
              </a:rPr>
              <a:t>Compute </a:t>
            </a:r>
            <a:r>
              <a:rPr lang="en-US" sz="2200" dirty="0">
                <a:latin typeface="Trebuchet MS" panose="020B0603020202020204" pitchFamily="34" charset="0"/>
              </a:rPr>
              <a:t>the expected return [E(</a:t>
            </a:r>
            <a:r>
              <a:rPr lang="en-US" sz="2200" dirty="0" err="1">
                <a:latin typeface="Trebuchet MS" panose="020B0603020202020204" pitchFamily="34" charset="0"/>
              </a:rPr>
              <a:t>Ri</a:t>
            </a:r>
            <a:r>
              <a:rPr lang="en-US" sz="2200" dirty="0">
                <a:latin typeface="Trebuchet MS" panose="020B0603020202020204" pitchFamily="34" charset="0"/>
              </a:rPr>
              <a:t>)] on Lauren Computer stock. </a:t>
            </a:r>
            <a:endParaRPr lang="en-IN" sz="2200" dirty="0">
              <a:latin typeface="Trebuchet MS" panose="020B06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>
                <a:latin typeface="Trebuchet MS" panose="020B0603020202020204" pitchFamily="34" charset="0"/>
              </a:rPr>
              <a:t>Exercise 07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964132"/>
              </p:ext>
            </p:extLst>
          </p:nvPr>
        </p:nvGraphicFramePr>
        <p:xfrm>
          <a:off x="2060575" y="2895600"/>
          <a:ext cx="4940300" cy="2298782"/>
        </p:xfrm>
        <a:graphic>
          <a:graphicData uri="http://schemas.openxmlformats.org/drawingml/2006/table">
            <a:tbl>
              <a:tblPr firstRow="1">
                <a:tableStyleId>{17292A2E-F333-43FB-9621-5CBBE7FDCDCB}</a:tableStyleId>
              </a:tblPr>
              <a:tblGrid>
                <a:gridCol w="2654300">
                  <a:extLst>
                    <a:ext uri="{9D8B030D-6E8A-4147-A177-3AD203B41FA5}">
                      <a16:colId xmlns:a16="http://schemas.microsoft.com/office/drawing/2014/main" val="21736584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05724969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Possible Rate of Return 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Probability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799304"/>
                  </a:ext>
                </a:extLst>
              </a:tr>
              <a:tr h="2920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-0.60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 smtClean="0">
                          <a:effectLst/>
                          <a:latin typeface="Trebuchet MS" panose="020B0603020202020204" pitchFamily="34" charset="0"/>
                        </a:rPr>
                        <a:t>0.05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918889"/>
                  </a:ext>
                </a:extLst>
              </a:tr>
              <a:tr h="2920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-0.30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0.20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209709"/>
                  </a:ext>
                </a:extLst>
              </a:tr>
              <a:tr h="2920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-0.10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0.10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701729"/>
                  </a:ext>
                </a:extLst>
              </a:tr>
              <a:tr h="2920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0.20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0.30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710659"/>
                  </a:ext>
                </a:extLst>
              </a:tr>
              <a:tr h="2920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0.40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effectLst/>
                          <a:latin typeface="Trebuchet MS" panose="020B0603020202020204" pitchFamily="34" charset="0"/>
                        </a:rPr>
                        <a:t>0.20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389229"/>
                  </a:ext>
                </a:extLst>
              </a:tr>
              <a:tr h="30529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0.80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0.15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73308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995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Trebuchet MS" panose="020B0603020202020204" pitchFamily="34" charset="0"/>
              </a:rPr>
              <a:t>This is similar to the Exercise 06</a:t>
            </a:r>
          </a:p>
          <a:p>
            <a:endParaRPr lang="en-US" b="1" dirty="0">
              <a:latin typeface="Trebuchet MS" panose="020B0603020202020204" pitchFamily="34" charset="0"/>
            </a:endParaRPr>
          </a:p>
          <a:p>
            <a:r>
              <a:rPr lang="en-US" b="1" dirty="0" smtClean="0">
                <a:latin typeface="Trebuchet MS" panose="020B0603020202020204" pitchFamily="34" charset="0"/>
              </a:rPr>
              <a:t>E(R) of LCC = (-0.60)*(0.05) +  (-0.30)* (0.20) +</a:t>
            </a:r>
          </a:p>
          <a:p>
            <a:r>
              <a:rPr lang="en-US" b="1" dirty="0">
                <a:latin typeface="Trebuchet MS" panose="020B0603020202020204" pitchFamily="34" charset="0"/>
              </a:rPr>
              <a:t>	</a:t>
            </a:r>
            <a:r>
              <a:rPr lang="en-US" b="1" dirty="0" smtClean="0">
                <a:latin typeface="Trebuchet MS" panose="020B0603020202020204" pitchFamily="34" charset="0"/>
              </a:rPr>
              <a:t>		  (-0.10)*(0.10) + (0.20) *(0.30) +</a:t>
            </a:r>
          </a:p>
          <a:p>
            <a:r>
              <a:rPr lang="en-US" b="1" dirty="0">
                <a:latin typeface="Trebuchet MS" panose="020B0603020202020204" pitchFamily="34" charset="0"/>
              </a:rPr>
              <a:t>	</a:t>
            </a:r>
            <a:r>
              <a:rPr lang="en-US" b="1" dirty="0" smtClean="0">
                <a:latin typeface="Trebuchet MS" panose="020B0603020202020204" pitchFamily="34" charset="0"/>
              </a:rPr>
              <a:t>		  (0.40)*(0.20) + (0.80)*(0.15) </a:t>
            </a:r>
          </a:p>
          <a:p>
            <a:endParaRPr lang="en-US" b="1" dirty="0" smtClean="0">
              <a:latin typeface="Trebuchet MS" panose="020B0603020202020204" pitchFamily="34" charset="0"/>
            </a:endParaRPr>
          </a:p>
          <a:p>
            <a:r>
              <a:rPr lang="en-US" b="1" dirty="0" smtClean="0">
                <a:latin typeface="Trebuchet MS" panose="020B0603020202020204" pitchFamily="34" charset="0"/>
              </a:rPr>
              <a:t>E(R ) of LCC = 0.16 </a:t>
            </a:r>
            <a:endParaRPr lang="en-IN" b="1" dirty="0">
              <a:latin typeface="Trebuchet MS" panose="020B06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>
                <a:latin typeface="Trebuchet MS" panose="020B0603020202020204" pitchFamily="34" charset="0"/>
              </a:rPr>
              <a:t>Solution 07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350B8C-FD8C-48D3-B3B5-5B109CC32B87}" type="datetime1">
              <a:rPr lang="en-US" smtClean="0"/>
              <a:t>2/4/2023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26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>
                <a:latin typeface="Trebuchet MS" panose="020B0603020202020204" pitchFamily="34" charset="0"/>
              </a:rPr>
              <a:t>Thank You</a:t>
            </a:r>
            <a:endParaRPr lang="en-IN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868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7C46BB90224B48912846443ADAB4E3" ma:contentTypeVersion="4" ma:contentTypeDescription="Create a new document." ma:contentTypeScope="" ma:versionID="f1e61c6fe5f70fe834747bcf5df7eb3d">
  <xsd:schema xmlns:xsd="http://www.w3.org/2001/XMLSchema" xmlns:xs="http://www.w3.org/2001/XMLSchema" xmlns:p="http://schemas.microsoft.com/office/2006/metadata/properties" xmlns:ns2="74b486a2-e692-43f8-8749-c3aa65fb85b9" targetNamespace="http://schemas.microsoft.com/office/2006/metadata/properties" ma:root="true" ma:fieldsID="2945df03c6b2010e70068df80046446a" ns2:_="">
    <xsd:import namespace="74b486a2-e692-43f8-8749-c3aa65fb85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b486a2-e692-43f8-8749-c3aa65fb85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22E059-C81A-4962-AEAC-81E22A95BD87}"/>
</file>

<file path=customXml/itemProps2.xml><?xml version="1.0" encoding="utf-8"?>
<ds:datastoreItem xmlns:ds="http://schemas.openxmlformats.org/officeDocument/2006/customXml" ds:itemID="{B0FD86AF-14D9-4C79-97FB-56AD0207990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20658</TotalTime>
  <Words>519</Words>
  <Application>Microsoft Office PowerPoint</Application>
  <PresentationFormat>On-screen Show (4:3)</PresentationFormat>
  <Paragraphs>130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Ajay</cp:lastModifiedBy>
  <cp:revision>1167</cp:revision>
  <dcterms:created xsi:type="dcterms:W3CDTF">2011-09-14T09:42:05Z</dcterms:created>
  <dcterms:modified xsi:type="dcterms:W3CDTF">2023-02-04T03:37:31Z</dcterms:modified>
</cp:coreProperties>
</file>